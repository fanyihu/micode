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111a3c85004dbf" /><Relationship Type="http://schemas.openxmlformats.org/officeDocument/2006/relationships/extended-properties" Target="/docProps/app.xml" Id="R37ce125f56324a00" /><Relationship Type="http://schemas.openxmlformats.org/officeDocument/2006/relationships/officeDocument" Target="/ppt/presentation.xml" Id="Re4aea1d3047249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78589f52d6486b"/>
  </p:sldMasterIdLst>
  <p:notesMasterIdLst>
    <p:notesMasterId xmlns:r="http://schemas.openxmlformats.org/officeDocument/2006/relationships" r:id="R6d8f35e990424476"/>
  </p:notesMasterIdLst>
  <p:sldIdLst>
    <p:sldId xmlns:r="http://schemas.openxmlformats.org/officeDocument/2006/relationships" id="256" r:id="R046c237762ce41bd"/>
    <p:sldId xmlns:r="http://schemas.openxmlformats.org/officeDocument/2006/relationships" id="257" r:id="R0552d79e11c74ab5"/>
    <p:sldId xmlns:r="http://schemas.openxmlformats.org/officeDocument/2006/relationships" id="258" r:id="R8885b43c138a40c4"/>
    <p:sldId xmlns:r="http://schemas.openxmlformats.org/officeDocument/2006/relationships" id="259" r:id="R6d041b2b0f0f4aa7"/>
    <p:sldId xmlns:r="http://schemas.openxmlformats.org/officeDocument/2006/relationships" id="260" r:id="Radca9b6343f141b2"/>
    <p:sldId xmlns:r="http://schemas.openxmlformats.org/officeDocument/2006/relationships" id="261" r:id="R2a0b2e838421406c"/>
    <p:sldId xmlns:r="http://schemas.openxmlformats.org/officeDocument/2006/relationships" id="262" r:id="Rbda9faf0a61a4bc1"/>
    <p:sldId xmlns:r="http://schemas.openxmlformats.org/officeDocument/2006/relationships" id="263" r:id="R4e708d4223064d76"/>
    <p:sldId xmlns:r="http://schemas.openxmlformats.org/officeDocument/2006/relationships" id="264" r:id="R8014c9faceb74101"/>
    <p:sldId xmlns:r="http://schemas.openxmlformats.org/officeDocument/2006/relationships" id="265" r:id="R094e12c2b28b47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4eee51c5e4324" /><Relationship Type="http://schemas.openxmlformats.org/officeDocument/2006/relationships/slideMaster" Target="/ppt/slideMasters/slideMaster1.xml" Id="R3578589f52d6486b" /><Relationship Type="http://schemas.openxmlformats.org/officeDocument/2006/relationships/notesMaster" Target="/ppt/notesMasters/notesMaster1.xml" Id="R6d8f35e990424476" /><Relationship Type="http://schemas.openxmlformats.org/officeDocument/2006/relationships/presProps" Target="/ppt/presProps.xml" Id="Ra0b58fb37d1c4430" /><Relationship Type="http://schemas.openxmlformats.org/officeDocument/2006/relationships/tableStyles" Target="/ppt/tableStyles.xml" Id="R4f4c9cc8ea9f45d4" /><Relationship Type="http://schemas.openxmlformats.org/officeDocument/2006/relationships/slide" Target="/ppt/slides/slide1.xml" Id="R046c237762ce41bd" /><Relationship Type="http://schemas.openxmlformats.org/officeDocument/2006/relationships/slide" Target="/ppt/slides/slide2.xml" Id="R0552d79e11c74ab5" /><Relationship Type="http://schemas.openxmlformats.org/officeDocument/2006/relationships/slide" Target="/ppt/slides/slide3.xml" Id="R8885b43c138a40c4" /><Relationship Type="http://schemas.openxmlformats.org/officeDocument/2006/relationships/slide" Target="/ppt/slides/slide4.xml" Id="R6d041b2b0f0f4aa7" /><Relationship Type="http://schemas.openxmlformats.org/officeDocument/2006/relationships/slide" Target="/ppt/slides/slide5.xml" Id="Radca9b6343f141b2" /><Relationship Type="http://schemas.openxmlformats.org/officeDocument/2006/relationships/slide" Target="/ppt/slides/slide6.xml" Id="R2a0b2e838421406c" /><Relationship Type="http://schemas.openxmlformats.org/officeDocument/2006/relationships/slide" Target="/ppt/slides/slide7.xml" Id="Rbda9faf0a61a4bc1" /><Relationship Type="http://schemas.openxmlformats.org/officeDocument/2006/relationships/slide" Target="/ppt/slides/slide8.xml" Id="R4e708d4223064d76" /><Relationship Type="http://schemas.openxmlformats.org/officeDocument/2006/relationships/slide" Target="/ppt/slides/slide9.xml" Id="R8014c9faceb74101" /><Relationship Type="http://schemas.openxmlformats.org/officeDocument/2006/relationships/slide" Target="/ppt/slides/slide10.xml" Id="R094e12c2b28b47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ddad50972c44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31184550d74b64" /><Relationship Type="http://schemas.openxmlformats.org/officeDocument/2006/relationships/notesMaster" Target="/ppt/notesMasters/notesMaster1.xml" Id="R8f1f77f7877546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24b0c1ef9f4645" /><Relationship Type="http://schemas.openxmlformats.org/officeDocument/2006/relationships/notesMaster" Target="/ppt/notesMasters/notesMaster1.xml" Id="R8911b598aeca4b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bd0532276c46d4" /><Relationship Type="http://schemas.openxmlformats.org/officeDocument/2006/relationships/notesMaster" Target="/ppt/notesMasters/notesMaster1.xml" Id="R16c351e30f414e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e378dc48094f5a" /><Relationship Type="http://schemas.openxmlformats.org/officeDocument/2006/relationships/notesMaster" Target="/ppt/notesMasters/notesMaster1.xml" Id="R2afc99e1bed04b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1c671ea00c4983" /><Relationship Type="http://schemas.openxmlformats.org/officeDocument/2006/relationships/notesMaster" Target="/ppt/notesMasters/notesMaster1.xml" Id="R73e5ac3161ff46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79e4dce06540f8" /><Relationship Type="http://schemas.openxmlformats.org/officeDocument/2006/relationships/notesMaster" Target="/ppt/notesMasters/notesMaster1.xml" Id="Rc5b4554a28004f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e43ffdc19f409f" /><Relationship Type="http://schemas.openxmlformats.org/officeDocument/2006/relationships/notesMaster" Target="/ppt/notesMasters/notesMaster1.xml" Id="R3af13dfd564846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53afbe562e4664" /><Relationship Type="http://schemas.openxmlformats.org/officeDocument/2006/relationships/notesMaster" Target="/ppt/notesMasters/notesMaster1.xml" Id="Ra1e1777b302a4a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471b2f2ee345bd" /><Relationship Type="http://schemas.openxmlformats.org/officeDocument/2006/relationships/notesMaster" Target="/ppt/notesMasters/notesMaster1.xml" Id="Ra6dbf625a34d47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c49b3fd5aa4b51" /><Relationship Type="http://schemas.openxmlformats.org/officeDocument/2006/relationships/notesMaster" Target="/ppt/notesMasters/notesMaster1.xml" Id="Rd077dfa48ab346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开场先说明项目已经完成到 Day 64。</a:t>
            </a:r>
          </a:p>
          <a:p xmlns:a="http://schemas.openxmlformats.org/drawingml/2006/main">
            <a:r>
              <a:t>基础模块能工作，后面继续多 Agent、安全和 MCP。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四个数字说明项目已经越过玩具脚本阶段。</a:t>
            </a:r>
          </a:p>
          <a:p xmlns:a="http://schemas.openxmlformats.org/drawingml/2006/main">
            <a:r>
              <a:t>但“对外产品”需要基线、安全和用户验证，不应偷换目标。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强调架构价值：统一执行链比功能数量更重要。</a:t>
            </a:r>
          </a:p>
          <a:p xmlns:a="http://schemas.openxmlformats.org/drawingml/2006/main">
            <a:r>
              <a:t>Day 65-84 仍是路线，不应计为当前能力。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这个执行链是项目最强的可行性证据。</a:t>
            </a:r>
          </a:p>
          <a:p xmlns:a="http://schemas.openxmlformats.org/drawingml/2006/main">
            <a:r>
              <a:t>后续角色型 SubAgent 应继续复用这条链，而不是另建控制中心。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先区分项目测试本身和 pytest 发现范围问题。</a:t>
            </a:r>
          </a:p>
          <a:p xmlns:a="http://schemas.openxmlformats.org/drawingml/2006/main">
            <a:r>
              <a:t>工作区未形成 baseline 是当前最高优先级风险。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图表最重要的信息是短板，而不是总分本身。</a:t>
            </a:r>
          </a:p>
          <a:p xmlns:a="http://schemas.openxmlformats.org/drawingml/2006/main">
            <a:r>
              <a:t>下一阶段要先抬高安全、治理与产品证据。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三项最高优先级工作量小，但决定后续能力能否可信复现。</a:t>
            </a:r>
          </a:p>
          <a:p xmlns:a="http://schemas.openxmlformats.org/drawingml/2006/main">
            <a:r>
              <a:t>风险矩阵中的位置是内部定性判断。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开发顺序从基础整理开始。</a:t>
            </a:r>
          </a:p>
          <a:p xmlns:a="http://schemas.openxmlformats.org/drawingml/2006/main">
            <a:r>
              <a:t>基础稳定以后，再继续多 Agent、安全和 MCP。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缩窄目标可以让可行性变成可测指标。</a:t>
            </a:r>
          </a:p>
          <a:p xmlns:a="http://schemas.openxmlformats.org/drawingml/2006/main">
            <a:r>
              <a:t>四类任务覆盖读取、写入、执行和审查的最小闭环。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结尾只保留三件具体行动。</a:t>
            </a:r>
          </a:p>
          <a:p xmlns:a="http://schemas.openxmlformats.org/drawingml/2006/main">
            <a:r>
              <a:t>完成后再继续 Reviewer、Tester、Implementer 和 MCP。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8a748dc3549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0c31f96c7449c0" /><Relationship Type="http://schemas.openxmlformats.org/officeDocument/2006/relationships/slideLayout" Target="/ppt/slideLayouts/slideLayout1.xml" Id="R71d569066eee4a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d569066eee4a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d62d736234816" /><Relationship Type="http://schemas.openxmlformats.org/officeDocument/2006/relationships/notesSlide" Target="/ppt/notesSlides/notesSlide1.xml" Id="Rb1645a97586d4a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5a0443a454306" /><Relationship Type="http://schemas.openxmlformats.org/officeDocument/2006/relationships/notesSlide" Target="/ppt/notesSlides/notesSlide2.xml" Id="Rc3c0e659859248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6bccd71b04c38" /><Relationship Type="http://schemas.openxmlformats.org/officeDocument/2006/relationships/notesSlide" Target="/ppt/notesSlides/notesSlide3.xml" Id="R061872a8eaa842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932fd9a3147f2" /><Relationship Type="http://schemas.openxmlformats.org/officeDocument/2006/relationships/notesSlide" Target="/ppt/notesSlides/notesSlide4.xml" Id="Rc468550c7f9542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92a51b00b4134" /><Relationship Type="http://schemas.openxmlformats.org/officeDocument/2006/relationships/notesSlide" Target="/ppt/notesSlides/notesSlide5.xml" Id="R57c675914e884c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7c76f6670458e" /><Relationship Type="http://schemas.openxmlformats.org/officeDocument/2006/relationships/chart" Target="/ppt/slides/charts/chart1.xml" Id="R6371c98dd31c430e" /><Relationship Type="http://schemas.openxmlformats.org/officeDocument/2006/relationships/notesSlide" Target="/ppt/notesSlides/notesSlide6.xml" Id="R10812cb5c4ce4d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4b3637c294638" /><Relationship Type="http://schemas.openxmlformats.org/officeDocument/2006/relationships/notesSlide" Target="/ppt/notesSlides/notesSlide7.xml" Id="R27f2e812156641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376897722425b" /><Relationship Type="http://schemas.openxmlformats.org/officeDocument/2006/relationships/notesSlide" Target="/ppt/notesSlides/notesSlide8.xml" Id="Ra8929356db7f48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e9f62a8b54d7f" /><Relationship Type="http://schemas.openxmlformats.org/officeDocument/2006/relationships/notesSlide" Target="/ppt/notesSlides/notesSlide9.xml" Id="R531c78bcc33c49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06c6d81ab47a5" /><Relationship Type="http://schemas.openxmlformats.org/officeDocument/2006/relationships/notesSlide" Target="/ppt/notesSlides/notesSlide10.xml" Id="Rad418154eb9f4472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rgbClr val="2F7CB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Runtime</c:v>
              </c:pt>
              <c:pt idx="1">
                <c:v>工具系统</c:v>
              </c:pt>
              <c:pt idx="2">
                <c:v>Trace</c:v>
              </c:pt>
              <c:pt idx="3">
                <c:v>Skill</c:v>
              </c:pt>
              <c:pt idx="4">
                <c:v>Memory / Context</c:v>
              </c:pt>
              <c:pt idx="5">
                <c:v>后续模块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90</c:v>
              </c:pt>
              <c:pt idx="4">
                <c:v>85</c:v>
              </c:pt>
              <c:pt idx="5">
                <c:v>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978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EA3872-04FF-4815-BB42-EC36968F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8989C-D84F-4684-B40F-1F3FE638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C"/>
          </a:solidFill>
          <a:ln xmlns:a="http://schemas.openxmlformats.org/drawingml/2006/main" w="0">
            <a:solidFill>
              <a:srgbClr val="0F8B7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1E19F-D396-4C0A-921B-B314F275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MINICODE  /  PROJECT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C3532-6DAE-43C6-9BBE-4551257F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MiniCode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D0C0D-46A1-4292-B30C-1B6B7DBD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52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6F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9E6F2"/>
                </a:solidFill>
                <a:latin typeface="PingFang SC"/>
                <a:ea typeface="PingFang SC"/>
                <a:cs typeface="PingFang SC"/>
              </a:rPr>
              <a:t>从可扩展 Coding Agent Runtime</a:t>
            </a:r>
          </a:p>
          <a:p xmlns:a="http://schemas.openxmlformats.org/drawingml/2006/main">
            <a:pPr algn="l">
              <a:defRPr sz="1800" b="0">
                <a:solidFill>
                  <a:srgbClr val="D9E6F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9E6F2"/>
                </a:solidFill>
                <a:latin typeface="PingFang SC"/>
                <a:ea typeface="PingFang SC"/>
                <a:cs typeface="PingFang SC"/>
              </a:rPr>
              <a:t>到可验证产品原型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AE18E-11C1-4D0C-AF7A-BD855255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3525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9525">
            <a:solidFill>
              <a:srgbClr val="E5F4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可以继续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1683F-F3AE-49F6-998B-E46E4175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67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基础模块已完成；下一步做多 Agent、安全和 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DBA77-3416-4FB2-B1D0-B10CEAFF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Day 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9AE98-288A-4D86-A4FB-62FE4FB6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9E6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9E6F2"/>
                </a:solidFill>
                <a:latin typeface="PingFang SC"/>
                <a:ea typeface="PingFang SC"/>
                <a:cs typeface="PingFang SC"/>
              </a:rPr>
              <a:t>当前开发进度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8D609-26BE-4A12-A4AC-3642DD23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2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FC2D4"/>
                </a:solidFill>
                <a:latin typeface="PingFang SC"/>
                <a:ea typeface="PingFang SC"/>
                <a:cs typeface="PingFang SC"/>
              </a:rPr>
              <a:t>2026.06.19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18802-95BA-4F68-AE2D-702700FE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C2D4"/>
                </a:solidFill>
                <a:latin typeface="PingFang SC"/>
                <a:ea typeface="PingFang SC"/>
                <a:cs typeface="PingFang SC"/>
              </a:rPr>
              <a:t>依据：MiniCode 本地仓库快照（内部评估）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A3845-711E-497B-8B73-AA258AE3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2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FC2D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85668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306932-445C-4EF5-A721-0F071DB0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01 / 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00E02-ACBA-4AAE-8736-58BCB15A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基础模块已经搭好，下一步继续补功能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7162B-4F26-46F5-B47D-438F13F4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Runtime、工具、Trace、Skill、Memory 和 Context 已经有代码与测试。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3E2DF-0237-4816-AC48-4C83137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57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D318B-2FB3-4C49-8C2A-E5509D41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57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C"/>
          </a:solidFill>
          <a:ln xmlns:a="http://schemas.openxmlformats.org/drawingml/2006/main" w="0">
            <a:solidFill>
              <a:srgbClr val="0F8B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D69FA-E589-45D1-97D9-8205296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351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60789-9022-47F8-B244-A3C13355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项目测试通过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D1645-4BEA-41BE-8F4E-148F50F7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2457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856F4-C3D2-451A-B52B-7E49ACF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2457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BD"/>
          </a:solidFill>
          <a:ln xmlns:a="http://schemas.openxmlformats.org/drawingml/2006/main" w="0">
            <a:solidFill>
              <a:srgbClr val="2F7C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09A4A-A58D-46BE-A552-62025FC6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F7CBD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F7CBD"/>
                </a:solidFill>
                <a:latin typeface="PingFang SC"/>
                <a:ea typeface="PingFang SC"/>
                <a:cs typeface="PingFang SC"/>
              </a:rPr>
              <a:t>9,666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E14B1-3575-4E7B-A2A3-8D1B86B3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源代码行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E8EF5-F8C2-44D8-B18D-B91135C8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57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020C1-BD83-421D-A7ED-BACA215B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57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2B"/>
          </a:solidFill>
          <a:ln xmlns:a="http://schemas.openxmlformats.org/drawingml/2006/main" w="0">
            <a:solidFill>
              <a:srgbClr val="E8A2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CA4B9-7079-46DF-8990-CAF78C81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8A22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8A22B"/>
                </a:solidFill>
                <a:latin typeface="PingFang SC"/>
                <a:ea typeface="PingFang SC"/>
                <a:cs typeface="PingFang SC"/>
              </a:rPr>
              <a:t>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E55B0-EDAE-4720-BF00-1E5C1B13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篇逐日 SDD 文档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3B370-4F16-4052-9F78-C4BA0D75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457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F1191-AC9B-42AA-92E6-93A3D6F4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457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5F"/>
          </a:solidFill>
          <a:ln xmlns:a="http://schemas.openxmlformats.org/drawingml/2006/main" w="0">
            <a:solidFill>
              <a:srgbClr val="173F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FA7ED-197D-4F1F-9698-192255B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F5F"/>
                </a:solidFill>
                <a:latin typeface="PingFang SC"/>
                <a:ea typeface="PingFang SC"/>
                <a:cs typeface="PingFang SC"/>
              </a:rPr>
              <a:t>Day 64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40A6D-C159-4E67-85CA-587A378A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194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受控 SubAgent 契约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3AAF3-DD83-4534-ACAA-73248010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81644-A461-4392-85FC-1E55BCB8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094F6-4454-4E78-AD56-C6413622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已完成：基础运行、工具、Trace、Skill、Memory、Context    ·    待继续：多 Agent、安全、MCP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8E3C1-9C91-44AB-9E89-E27BF2C2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来源：README、SDD、项目测试与代码统计，2026-06-19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670F9-E5F6-4495-9F10-EE5D1F47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0227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ACBA11-5AAC-40B9-BF5E-C3125369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02 / CURRENT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5F1FB-61AC-49D0-92FD-AC8D0120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不是功能堆砌：六层能力已经形成闭环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3BAC8-DEBD-4E88-BF35-A1CA3D7D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每一层都通过 ToolResult、Trace 或上下文进入同一执行系统。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D12FD-788C-46AF-AB5D-D29A288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90700"/>
            <a:ext cx="9334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B7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E6538-5EF4-4CD9-BC97-C4FD14A6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4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91446-F4E1-4757-B69E-DE634476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05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SUBAGENT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31F61-2462-471C-A863-8232FA71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05000"/>
            <a:ext cx="595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任务/结果契约 · Policy · Executor 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A261F-6F19-4199-9F0D-3A4F2C2C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19350"/>
            <a:ext cx="895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C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58CAF-7470-4A76-86EA-2FDADF6C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52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B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7CBD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B49C3-1CB6-4102-B834-F675C28D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33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MEMORY &amp;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7E64C-96FE-4902-B489-C1A7885D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33650"/>
            <a:ext cx="557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工作记忆 · 图谱 · 检索 · 压缩 ·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F5D3E-46F9-4B27-A563-A0B92100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48000"/>
            <a:ext cx="8572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F6F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97F62-7105-4D18-A1EE-72965A88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FB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F6FB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7E424-0B6D-4A0C-92BD-7C777A2B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62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CBF59-8418-4616-869E-3F150E06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加载 · 摘要注入 · 路由 · 候选审批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6FB45-2C1C-4BED-A644-72893C97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76650"/>
            <a:ext cx="8191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A2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1221B-4988-424E-A8C0-008D3903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100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A2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8A2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24C85-D42F-4633-8A06-75F4F054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8B81E-C517-4322-9716-2DAD1D9E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0950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持久化 · 筛选 · 详情 · Markdown 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A68E6-4704-4D1E-8B67-64E9A586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05300"/>
            <a:ext cx="7810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B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1F7AC-96F8-412B-937E-9FF9768E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38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8B5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B8B5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85FF7-9220-4958-B3A7-AD37FA71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9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TOOLING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2F0F7-47C3-4A47-90EA-348492D1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文件 · Shell · Git · 统一 ToolRegistry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64896-877F-4BF0-9BCF-BFF8296A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33950"/>
            <a:ext cx="7429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F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81617-0552-4778-B046-C1D474E5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67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3F5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0598D-ACE4-4B5F-AE85-E6FAC8D5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48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65C6A9-33D5-4254-97DD-8EDA920F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Run / Step / Event · Agent Loop · CLI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2655D6-77AC-427B-8C37-87620814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352550"/>
            <a:ext cx="1314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9525">
            <a:solidFill>
              <a:srgbClr val="E5F4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模块总览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2D53EA-8725-4C04-B7FF-4212779A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来源：README、Stage 2 Roadmap、Day 64 SubAgent Tool 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90B38-B209-4051-98D7-EC1D557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8295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CC56C8-5ED7-4596-A704-BD16495D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03 / AGENT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A11C2-FD82-49B9-A60E-55CA8C96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一次任务是这样执行和记录的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A0EC4-A803-4E32-9428-71381AC8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6F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9E6F2"/>
                </a:solidFill>
                <a:latin typeface="PingFang SC"/>
                <a:ea typeface="PingFang SC"/>
                <a:cs typeface="PingFang SC"/>
              </a:rPr>
              <a:t>模型决定动作，工具负责执行，Permission 检查权限，Trace 保存过程。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2E45E-39CA-4B22-9D2A-090F42ED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257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19050">
            <a:solidFill>
              <a:srgbClr val="0F8B7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用户任务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4F683-BC2F-4E7C-93BC-45F9943A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05050"/>
            <a:ext cx="1257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19050">
            <a:solidFill>
              <a:srgbClr val="2F7CB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/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FFB50-DE49-4933-98C2-4844324C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05050"/>
            <a:ext cx="1257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19050">
            <a:solidFill>
              <a:srgbClr val="5F6F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Tool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Registry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CD7BA-D509-45AF-97D2-6AE8C072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05050"/>
            <a:ext cx="1257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19050">
            <a:solidFill>
              <a:srgbClr val="E8A2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Permission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&amp; Hooks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D97C9-7903-4688-A62B-312A910E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1257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19050">
            <a:solidFill>
              <a:srgbClr val="4B8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ToolResult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F1618-674B-423E-BA03-2A80093D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05050"/>
            <a:ext cx="1257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19050">
            <a:solidFill>
              <a:srgbClr val="2F7CB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Trace /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C3358-5883-4B5B-8C0F-137D3850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05050"/>
            <a:ext cx="1257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19050">
            <a:solidFill>
              <a:srgbClr val="0F8B7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 /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Final</a:t>
            </a:r>
          </a:p>
        </p:txBody>
      </p: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94310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CA6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8615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CA6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2920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CA6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7225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CA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1530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CA6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658350" y="2819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CA6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83C39-608B-41AA-A6AB-59BAA9E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C223A"/>
          </a:solidFill>
          <a:ln xmlns:a="http://schemas.openxmlformats.org/drawingml/2006/main" w="9525">
            <a:solidFill>
              <a:srgbClr val="284E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7359B-A73C-40F6-AA2B-BFEB2D3F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权限边界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75A8F-4A71-4C65-82DE-61CE8654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路径 + 工具白名单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EA06E-EDFB-4BB6-B78E-386F9476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证据边界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E12DC-FE31-4B40-A395-0E0BE979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Result + Artifact + Trace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62CDF-5FA3-42B2-BC46-E6BE0B3D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上下文边界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152AE-A56B-4C1A-A9E1-6472D03E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Summary + Memory + Compaction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FE8D0-D200-45EB-A5A5-025D888E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控制边界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C1D8E-C17A-414C-A4D5-8AA1D660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 Agent 审批与继续决策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E97EB-905D-43D5-8DB2-F41D0200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C2D4"/>
                </a:solidFill>
                <a:latin typeface="PingFang SC"/>
                <a:ea typeface="PingFang SC"/>
                <a:cs typeface="PingFang SC"/>
              </a:rPr>
              <a:t>来源：Agent Loop、Tool Registry、Permission、Hooks 与 Day 64 契约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5E7281-C947-493A-BD26-9612B25A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2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FC2D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3878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53EC8-99DF-42A5-91E0-F7EB5BD7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04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E1579-B18F-4F76-91FA-30DD9A24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测试已经通过，但测试入口和 Git 基线要先整理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EA2E7-0DD6-4A5C-9F0D-BEB409A9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6291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27C7D-5910-47B0-BC5D-1303ED0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351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EC2C6-33FD-41AD-9F7A-F10EA22A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项项目测试全部通过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59AAB-ED46-48D2-B499-F9D5E84D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python3 -m pytest -q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B6226-036B-45D4-8DBD-1C12BEBB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377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49B90-138B-47DB-AA00-C2DD38B2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7CBD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2F7CBD"/>
                </a:solidFill>
                <a:latin typeface="PingFang SC"/>
                <a:ea typeface="PingFang SC"/>
                <a:cs typeface="PingFang SC"/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EA744-6282-4AAF-9112-0EB8D509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源文件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E938B-4C18-4963-BA26-C1DA95B3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7CBD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2F7CBD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5B783-0F90-4371-A8B6-CF42040F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958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测试文件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1FAE7-95A2-43A6-BA05-34006003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7CBD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2F7CBD"/>
                </a:solidFill>
                <a:latin typeface="PingFang SC"/>
                <a:ea typeface="PingFang SC"/>
                <a:cs typeface="PingFang SC"/>
              </a:rPr>
              <a:t>65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7073B-D84E-403C-A989-069EE535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day 文档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33748-323E-4A73-BB7A-1271B18D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04950"/>
            <a:ext cx="5867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0CF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919EC-4C8A-46B5-97DB-FFA9D98E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90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6B1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9A6B16"/>
                </a:solidFill>
                <a:latin typeface="PingFang SC"/>
                <a:ea typeface="PingFang SC"/>
                <a:cs typeface="PingFang SC"/>
              </a:rPr>
              <a:t>测试入口警告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8DD39-85CD-4B07-B223-F24F9F87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直接运行 pytest 会误收集 references/MiniCode-Python 内部测试并异常退出。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这是测试发现配置问题，不是 351 项项目测试失败。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8022A-FC12-4C53-8503-88E8610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62350"/>
            <a:ext cx="5867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BE8E9"/>
          </a:solidFill>
          <a:ln xmlns:a="http://schemas.openxmlformats.org/drawingml/2006/main" w="9525">
            <a:solidFill>
              <a:srgbClr val="E4A5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39ADC-5B80-47C4-AB51-0A7195D2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464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8464B"/>
                </a:solidFill>
                <a:latin typeface="PingFang SC"/>
                <a:ea typeface="PingFang SC"/>
                <a:cs typeface="PingFang SC"/>
              </a:rPr>
              <a:t>发布基线警告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DB98F-28F0-4997-85CB-E1665225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053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30 个已跟踪变更</a:t>
            </a:r>
          </a:p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54 个未跟踪项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36FDE-9277-413F-A7C0-AADDEF35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343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当前快照尚未形成可回滚、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可复现、可由 CI 验证的版本。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9753F-775B-474F-9C51-57519DA1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来源：本地测试、代码统计与 Git 状态，2026-06-19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854A6-0A1A-43C2-BBEB-EBC5DDE0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4571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FAB0B4-DB2A-4F74-A3C5-B16EC50D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05 / MODULE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FD162-01EB-43F8-9894-2435BC9D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模块完成情况：基础部分已完成，后续功能待继续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D773E-375D-48A5-B703-42B82AB0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百分比是为了汇报方便做的内部估计，不是严格项目统计。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4060D-ADA5-4E63-A744-13253602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2677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066800" y="2114550"/>
          <a:ext xmlns:a="http://schemas.openxmlformats.org/drawingml/2006/main" cx="75247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71c98dd31c43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9B242-C2B5-4CCC-99B8-2DC9C4A4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28800"/>
            <a:ext cx="2209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54975-6B88-4038-A28C-D13B5FF6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86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Day 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1F611-476C-4594-B563-3F7510B9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90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6F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E6F2"/>
                </a:solidFill>
                <a:latin typeface="PingFang SC"/>
                <a:ea typeface="PingFang SC"/>
                <a:cs typeface="PingFang SC"/>
              </a:rPr>
              <a:t>当前进度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1979D-B8AA-4010-AF0C-D812203C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48100"/>
            <a:ext cx="22098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9525">
            <a:solidFill>
              <a:srgbClr val="B7DD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AB3E2-CA30-4580-A132-A3432969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95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简单结论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09331-3021-400E-95F1-CF8205C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33900"/>
            <a:ext cx="1790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基础模块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已经完成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后续继续补齐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02E3B-13E0-484D-B661-517B41A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模块完成度为汇报用内部估计；后续模块包括 SubAgent、安全和 MCP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613DA-5EDF-4FC5-B700-7EF2DD65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22311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26C478-BAEA-4044-999B-8847A6CD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06 / CURRENT 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E6C5C-799E-4267-9903-C23941EC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目前先解决三个实际问题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5865D-A2C5-425A-8BD0-9EA83D6C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测试入口、Git 基线和敏感配置处理好以后，再继续扩展功能。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F1F5E-B97C-417F-AD04-FC69BE23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38350"/>
            <a:ext cx="3448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CE547-0493-4432-A9E2-8A13B4F0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3448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9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117D1-C576-422D-AF51-406B167B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3448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F1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FC2BF-DC24-402C-AD4D-4C7788B9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3448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D01BC-3638-4674-875D-54240145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67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影响 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8E67B-3BAA-472B-B224-82D466C2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概率 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91F55-7670-41FE-8D85-67457FB7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64B"/>
          </a:solidFill>
          <a:ln xmlns:a="http://schemas.openxmlformats.org/drawingml/2006/main" w="9525">
            <a:solidFill>
              <a:srgbClr val="C846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基线不可复现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D47B9-D821-4090-A0E4-9F916D36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2895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64B"/>
          </a:solidFill>
          <a:ln xmlns:a="http://schemas.openxmlformats.org/drawingml/2006/main" w="9525">
            <a:solidFill>
              <a:srgbClr val="C846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测试入口不可靠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9FCE8-677C-47F1-83C7-49FEF7EF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22B"/>
          </a:solidFill>
          <a:ln xmlns:a="http://schemas.openxmlformats.org/drawingml/2006/main" w="9525">
            <a:solidFill>
              <a:srgbClr val="E8A2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密钥泄露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B659E-E5FF-482F-BBD2-7592902E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3385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22B"/>
          </a:solidFill>
          <a:ln xmlns:a="http://schemas.openxmlformats.org/drawingml/2006/main" w="9525">
            <a:solidFill>
              <a:srgbClr val="E8A2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核心模块膨胀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16316-9E64-4D05-9361-61D69D6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64B"/>
          </a:solidFill>
          <a:ln xmlns:a="http://schemas.openxmlformats.org/drawingml/2006/main" w="9525">
            <a:solidFill>
              <a:srgbClr val="C846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 Agent 权限扩散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524BE-5B1D-48F5-AD79-EAB1CE16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0055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7C"/>
          </a:solidFill>
          <a:ln xmlns:a="http://schemas.openxmlformats.org/drawingml/2006/main" w="9525">
            <a:solidFill>
              <a:srgbClr val="0F8B7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产品价值不足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A8901-C2B2-49AE-B13C-97140F51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895600" cy="33147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F7AE8-CC56-401A-9014-0292B7C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先做三件小事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9D310-121E-4BB8-8C8C-82970EF5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C3707-1F49-4F08-8D6E-4BBE4FBB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71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 testpaths=tests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CF1FC-AB79-4529-A01A-88A6757B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957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F48E0-FEA7-4291-8B20-8DCE221F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清理 Git 与敏感配置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FC1FA-EAC2-469D-9F23-F85727BD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005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BEEFF-3C6E-4418-87B4-B2B92E84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81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建立最小 CI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989FF-3935-4D1F-B759-102E433E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来源：Git 状态、pytest 行为、配置路线与 Stage 2 安全边界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B5C3D1-A626-4B63-969F-AE3A59B7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49389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6CDFD5-AD40-4312-9DBB-624F36BB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07 / NEXT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89B7A-F815-4BB7-83F0-E5508430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后续开发顺序：先整理基础，再做多 Agent 和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EF364-F95D-4A74-8B1A-EEA8B628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1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周期为单人兼职学习节奏的规划假设，用于排序，不构成进度承诺。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7A8A8-2BAF-401D-A0F6-5E7E8888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4B975-8CDD-479C-BE4C-51C42E1E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86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64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89FBD-5BAD-4B9E-B5D7-BA4F0A2B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717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76186-4B4D-4E84-BCC6-BFBDBA9B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038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4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1578C-FE3E-44C0-9702-1D2772A1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基线修复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71338-7F75-426C-B626-E45EEFDB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8464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464B"/>
                </a:solidFill>
                <a:latin typeface="PingFang SC"/>
                <a:ea typeface="PingFang SC"/>
                <a:cs typeface="PingFang SC"/>
              </a:rPr>
              <a:t>1-2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3C405-2304-44FF-86B8-F788CC40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038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93569-BC9D-48E3-9837-DD949AF5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464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8464B"/>
                </a:solidFill>
                <a:latin typeface="PingFang SC"/>
                <a:ea typeface="PingFang SC"/>
                <a:cs typeface="PingFang SC"/>
              </a:rPr>
              <a:t>通过门槛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DF719-1A06-48FB-B5B8-8D22120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一条命令全绿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EF162-0BDD-4106-9971-12D1D3AB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86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22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0C73E-3D13-4843-98D1-CF43C5E1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717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AB905-8AF4-43AC-AC82-4A1012E4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85950"/>
            <a:ext cx="2038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A2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04D5B-4E10-4DB1-93A8-0EA036C4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38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Runtime 硬化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ED29F-9F54-4899-A034-C3ABB729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8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8A22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E8A22B"/>
                </a:solidFill>
                <a:latin typeface="PingFang SC"/>
                <a:ea typeface="PingFang SC"/>
                <a:cs typeface="PingFang SC"/>
              </a:rPr>
              <a:t>1-2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CCD4E-3181-4164-AD9E-FDA1A1A0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2038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AFAF7-D263-4E18-959F-858554A2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623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A22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E8A22B"/>
                </a:solidFill>
                <a:latin typeface="PingFang SC"/>
                <a:ea typeface="PingFang SC"/>
                <a:cs typeface="PingFang SC"/>
              </a:rPr>
              <a:t>通过门槛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53CC8-E137-4F55-8ECB-AFE1C61A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10 任务 ≥80%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90A2E-2220-4DAD-8AB0-934CD638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86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BD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214FF-657F-4D53-B96C-FFF4CA7D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717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412D9-8FFD-441D-89B9-50E0948F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85950"/>
            <a:ext cx="2038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C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E212A-735D-4770-8087-7C7D1E68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38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受控多 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028F0-3CD4-4782-975B-660845C5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F7CB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F7CBD"/>
                </a:solidFill>
                <a:latin typeface="PingFang SC"/>
                <a:ea typeface="PingFang SC"/>
                <a:cs typeface="PingFang SC"/>
              </a:rPr>
              <a:t>2-3 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5EDB3B-5E76-496D-9CCF-A3D8A9A3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90900"/>
            <a:ext cx="2038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FC9930-E9F8-461A-99B5-44EEAD64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623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B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7CBD"/>
                </a:solidFill>
                <a:latin typeface="PingFang SC"/>
                <a:ea typeface="PingFang SC"/>
                <a:cs typeface="PingFang SC"/>
              </a:rPr>
              <a:t>通过门槛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45D19-D040-45D9-8915-B3C6D48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433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写操作有门槛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437F0C-C117-4629-91AA-55F3499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6FB2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D15DAE-54E9-4094-A494-287C976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717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C94748-5BC4-493E-B89B-EE5B9C69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85950"/>
            <a:ext cx="2038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F6FB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E0FF37-367E-4905-A533-CAB66B02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安全与 MCP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623252-EAF4-477A-B272-A9086EEB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FB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6FB2"/>
                </a:solidFill>
                <a:latin typeface="PingFang SC"/>
                <a:ea typeface="PingFang SC"/>
                <a:cs typeface="PingFang SC"/>
              </a:rPr>
              <a:t>2-4 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B8C118-6EE3-4E45-A33C-FD80A6FA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90900"/>
            <a:ext cx="2038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4231F3-101F-40A9-925F-4B4C0DEE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FB2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F6FB2"/>
                </a:solidFill>
                <a:latin typeface="PingFang SC"/>
                <a:ea typeface="PingFang SC"/>
                <a:cs typeface="PingFang SC"/>
              </a:rPr>
              <a:t>通过门槛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BF4CE9-E9EE-46E6-B0AF-3921F8C1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433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可追溯/可撤销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78AAFF-79A4-43DC-A1DA-2FB1E5D1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C35E1B-D202-469E-B877-993D9990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717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787E99-A85E-43C4-BBCA-59132273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85950"/>
            <a:ext cx="2038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B7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12885E-8497-4681-9424-EFC71756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38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窄场景试点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60B0AA-81DD-4571-96A9-A1802E73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8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2 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868D75-D200-4DEB-8868-FDCFF54B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90900"/>
            <a:ext cx="2038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156766-AB27-4D20-882F-B10A2350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623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通过门槛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27C728-4602-4DFD-99FA-818AB7A8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重复使用信号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A67888-CDB8-4D6A-8666-72FF0810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9525">
            <a:solidFill>
              <a:srgbClr val="B7DD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398A31-B8A7-46E4-918C-F1A3BB60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决策规则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3E7689-E0E9-416A-ADDF-238AEA3B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00650"/>
            <a:ext cx="889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先完成基线修复和 Runtime 整理，再继续多 Agent、安全与 MCP，最后做实际任务试用。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DB2544-0967-42D5-A26F-1D2E2F36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后续顺序为内部开发安排，可按实际学习进度调整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3301B0-4B29-4963-A619-DE44CFED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9883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5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4926A-9B68-4AEE-BFFF-CA71EA91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08 / TARGET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6FBF0-77A1-4554-A8B1-37CF6E8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近期目标不是“通用 Agent”，而是受控仓库中的可靠闭环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E43C4-4C19-48E3-85F3-7584EB8F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一个仓库 · 四类任务 · 一条可解释执行链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9BB11-E40F-4D3F-93A8-C9E9AE31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3048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受控 Coding Agent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路径白名单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工具白名单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Trace 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4D4BE-2A01-4FD1-8B0F-DD12AE96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CB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读取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定位与理解代码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5E332-408C-409A-9010-3F66AE1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F6F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修改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结构化变更与 diff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2B54A-82FF-4AFA-B69B-553D062A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A2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测试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执行与归因失败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A0C6C-2CD7-4B59-8DE2-68B27F28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81450"/>
            <a:ext cx="2476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B7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审查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证据化 review</a:t>
            </a:r>
          </a:p>
        </p:txBody>
      </p: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4" idx="2"/>
          </p:cNvCxnSpPr>
          <p:nvPr/>
        </p:nvCxnSpPr>
        <p:spPr>
          <a:xfrm xmlns:a="http://schemas.openxmlformats.org/drawingml/2006/main">
            <a:off x="3543300" y="2590800"/>
            <a:ext cx="102870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7CBD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4" idx="6"/>
          </p:cNvCxnSpPr>
          <p:nvPr/>
        </p:nvCxnSpPr>
        <p:spPr>
          <a:xfrm xmlns:a="http://schemas.openxmlformats.org/drawingml/2006/main" flipH="1">
            <a:off x="7620000" y="2590800"/>
            <a:ext cx="59055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FB2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3543300" y="3314700"/>
            <a:ext cx="10287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2B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1"/>
            <a:endCxn xmlns:a="http://schemas.openxmlformats.org/drawingml/2006/main" id="4" idx="6"/>
          </p:cNvCxnSpPr>
          <p:nvPr/>
        </p:nvCxnSpPr>
        <p:spPr>
          <a:xfrm xmlns:a="http://schemas.openxmlformats.org/drawingml/2006/main" flipH="1" flipV="1">
            <a:off x="7620000" y="3314700"/>
            <a:ext cx="59055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7C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E2896-E9D7-49B3-A1AF-64A705CC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19700"/>
            <a:ext cx="5867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03DE2-899A-4C08-8F07-3F3DA28E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5305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43"/>
                </a:solidFill>
                <a:latin typeface="PingFang SC"/>
                <a:ea typeface="PingFang SC"/>
                <a:cs typeface="PingFang SC"/>
              </a:rPr>
              <a:t>验收：10 个标准任务成功率 ≥80%  ·  失败可由 Trace 定位  ·  敏感动作 100% 受门槛控制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95F2E-20F1-4C2B-9198-5326A964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建议范围与验收门槛：内部规划假设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52075-30BC-48DF-9603-60316EF8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5D6978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8197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2E9AAE-495A-4152-8073-595D633C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D023A-35F5-4FCD-916B-F37696C6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下一步先做三件事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6A2D5-4D4D-4D60-80D3-EAC5C2E6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6F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D9E6F2"/>
                </a:solidFill>
                <a:latin typeface="PingFang SC"/>
                <a:ea typeface="PingFang SC"/>
                <a:cs typeface="PingFang SC"/>
              </a:rPr>
              <a:t>先把当前项目整理稳定，再继续多 Agent、安全与 MCP。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A6D52-36D0-42D9-83A5-0754B1F2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2B58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D9599-2DB2-4179-9834-A5446FD2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6D878-57B3-458B-94FB-CF6F84BB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修测试入口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3D1C2-A01D-476B-B7D5-13B2F8E6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6F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E6F2"/>
                </a:solidFill>
                <a:latin typeface="PingFang SC"/>
                <a:ea typeface="PingFang SC"/>
                <a:cs typeface="PingFang SC"/>
              </a:rPr>
              <a:t>testpaths=tests + 最小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5FD13-F09F-4DCB-A61B-01F3B13A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2B58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073DE-41E4-4ABF-873D-B5B5CFAF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383D6-6A24-4E02-91DC-59737E90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固化仓库基线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6076D-523B-48A9-AB6F-C67249EC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6F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E6F2"/>
                </a:solidFill>
                <a:latin typeface="PingFang SC"/>
                <a:ea typeface="PingFang SC"/>
                <a:cs typeface="PingFang SC"/>
              </a:rPr>
              <a:t>清理 Git、敏感配置与密钥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FAC0F-E0AF-45C9-BD8A-63927641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2B58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7C920-9C15-4740-A711-1BD09693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9C9B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8B01C-9200-4A91-8D7A-F37D245D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建立真实验收集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10D37-11D5-4476-9ECB-5AE6947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6F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9E6F2"/>
                </a:solidFill>
                <a:latin typeface="PingFang SC"/>
                <a:ea typeface="PingFang SC"/>
                <a:cs typeface="PingFang SC"/>
              </a:rPr>
              <a:t>10 个标准任务 + 统一评分表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29860-999F-407F-84E7-B12343A1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9525">
            <a:solidFill>
              <a:srgbClr val="E5F4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B7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F8B7C"/>
                </a:solidFill>
                <a:latin typeface="PingFang SC"/>
                <a:ea typeface="PingFang SC"/>
                <a:cs typeface="PingFang SC"/>
              </a:rPr>
              <a:t>下一次复盘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009DB-A20C-4ACC-8BBB-F2C31189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05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三项整理完成后，再继续 Reviewer、Tester、Implementer 和 MCP。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64CDE-DA7A-4A3C-B1C8-A66A61AC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2D4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FC2D4"/>
                </a:solidFill>
                <a:latin typeface="PingFang SC"/>
                <a:ea typeface="PingFang SC"/>
                <a:cs typeface="PingFang SC"/>
              </a:rPr>
              <a:t>结论基于 2026-06-19 本地仓库快照；不含外部市场与财务数据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B3D3A-B1C8-43B4-91CE-D9CF8A5F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2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AFC2D4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37674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2026-06-18T17:05:18.6220000Z</dcterms:created>
  <dcterms:modified xsi:type="dcterms:W3CDTF">2026-06-18T17:05:18.6220000Z</dcterms:modified>
</coreProperties>
</file>